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Robotic Pick &amp; Place for Fruit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Applied Robotics (04 39984) — University of Birmingham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1/8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Objective: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Sort 14 fruits into 3 baskets autonomously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6 strawberries  |  3 bananas  |  5 tomatoes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Operational Modes: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Fully Autonomous — vision + plan + pick + place loop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Remote-Controlled — Tkinter GUI with live D415 feed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Hardware: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Quanser QArm 4-DOF + Intel RealSense D415 RGBD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Arm-mounted camera (pose-dependent calibration)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Software: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Python 3.13 | OpenCV | Tkinter | Vosk (voice)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+ shape-based fruit detection (no ML)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session calibration (&lt;30s re-cal)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 with per-fruit tuning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Voice control (Vosk wake-word, offline)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60+ automated tests, quintic trajectories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94960"/>
            <a:ext cx="5669280" cy="10058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Module: Applied Robotics (04 39984)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Coordinator: Dr Amir Hajiyavand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University of Birmingham — 2025/26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Deadline: 1 May 2026</a:t>
            </a:r>
          </a:p>
        </p:txBody>
      </p:sp>
      <p:pic>
        <p:nvPicPr>
          <p:cNvPr id="17" name="Picture 16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Architecture: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From Camera Frame to Sorted Basket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2/8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96D6"/>
                </a:solidFill>
              </a:defRPr>
            </a:pPr>
            <a:r>
              <a:t>D415</a:t>
            </a:r>
            <a:br/>
            <a:r>
              <a:t>Camera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96D6"/>
                </a:solidFill>
              </a:defRPr>
            </a:pPr>
            <a:r>
              <a:t>Calibration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00"/>
                </a:solidFill>
              </a:defRPr>
            </a:pPr>
            <a:r>
              <a:t>Fruit</a:t>
            </a:r>
            <a:br/>
            <a: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00"/>
                </a:solidFill>
              </a:defRPr>
            </a:pPr>
            <a:r>
              <a:t>Target</a:t>
            </a:r>
            <a:br/>
            <a:r>
              <a:t>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IK</a:t>
            </a:r>
            <a:br/>
            <a:r>
              <a:t>Solver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Quintic</a:t>
            </a:r>
            <a:br/>
            <a:r>
              <a:t>Trajectory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Pick &amp; Place</a:t>
            </a:r>
            <a:br/>
            <a:r>
              <a:t>FSM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Basket</a:t>
            </a:r>
            <a:br/>
            <a:r>
              <a:t>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379476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D415 RGB + Depth (640x480)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session calibration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solvePnP camera extrinsics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Homography pixel-to-table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Arm-mounted, pose-dependent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T_cam_to_base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148840"/>
            <a:ext cx="37947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colour segmentation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Shape filtering (area,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circularity, aspect ratio)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Ray-plane depth projection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pick bias: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calyx dir, inscribed disk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148840"/>
            <a:ext cx="379476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4-DOF analytic IK (4 solutions)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Joint-limit filter + optimal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Quintic spline trajectories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Gripper ramp + readback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depth tuning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074920"/>
            <a:ext cx="576072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Autonomous Mode: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Full pipeline loops: scan -&gt; detect -&gt; pick -&gt; place -&gt; repeat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Sorts all 14 fruits without operator input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Remote Mode (GUI):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Tkinter UI: live D415 feed + manual jog + basket shortcuts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Voice control: 'robot, pick strawberry'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074920"/>
            <a:ext cx="576072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Software Stack: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Python 3.13      — all control + vision logic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OpenCV 4.x       — HSV, solvePnP, homography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Quanser SDK      — QArm driver (joint I/O)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Tkinter + Pillow — GUI with live video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Vosk + PyAudio   — offline voice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Calibration &amp;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From Pixels to Base-Frame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3/8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Chessboard Session Calibration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182880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Calibration Pipeline: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Print 7x5 chessboard (30mm squares)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Jog-touch origin corner -&gt; chess_origin_in_base_m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Move arm to survey1 pose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D415 capture -&gt; findChessboardCorners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 solvePnP -&gt; camera extrinsics at survey pose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6. Homography -&gt; pixel-to-table-plane projection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CAF50"/>
                </a:solidFill>
                <a:latin typeface="Calibri"/>
              </a:defRPr>
            </a:pPr>
            <a:r>
              <a:t>RMS gate: warn &gt;3mm, error &gt;10mm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Key Equations: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Rigid transform:  P_base = R . P_cam + t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Pinhole model: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L.[u,v,1]' = K.[R|t].[X,Y,Z,1]'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Ray-plane intersection: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L = (z_table - t_z) / (r3 . K^-1 . [u,v,1]')</a:t>
            </a:r>
          </a:p>
        </p:txBody>
      </p:sp>
      <p:pic>
        <p:nvPicPr>
          <p:cNvPr id="15" name="Picture 14" descr="chessboard_7x5_30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937760"/>
            <a:ext cx="5669280" cy="14173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HSV + Shape Fruit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Detection Pipeline: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Convert frame to HSV colour space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Per-fruit HSV mask (with hue-wrap for red)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Morphological open/close to clean noise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Contour extraction + area/circularity gates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 Depth lookup -&gt; ray-plane -&gt; base-frame XYZ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27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onsolas"/>
              </a:defRPr>
            </a:pPr>
            <a:r>
              <a:t>Fruit       H range        S       V       Min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38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Banana      14-40          80+     60+     2000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85032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6941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Tomato      0-10, 170-180  80+     40+     1500 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41064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Strawberry  0-10, 170-180  80+     40+      800 px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51960"/>
            <a:ext cx="5669280" cy="11887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Strawberry Special Handling: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Green calyx detection (_has_green_above)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-&gt; distinguishes strawberry from tomato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Widest inscribed disk replaces naive centroid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-&gt; gripper targets fat body, not stem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Calyx direction vector biases pick toward body</a:t>
            </a:r>
          </a:p>
        </p:txBody>
      </p:sp>
      <p:pic>
        <p:nvPicPr>
          <p:cNvPr id="30" name="Picture 29" descr="liv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532120"/>
            <a:ext cx="56692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Control System: IK, Trajectories &amp;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Inverse Kinematics | Quintic Splines | 13-State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4/8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Inverse Kinematics (4-DOF Analytic)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4 solutions per target position: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D1 = +sqrt(px^2+py^2): elbow-up / elbow-down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D2 = -sqrt(px^2+py^2): inverted configs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8C00"/>
                </a:solidFill>
                <a:latin typeface="Consolas"/>
              </a:defRPr>
            </a:pPr>
            <a:r>
              <a:t>Joint-limit filter: [-3pi/4, 3pi/4]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Optimal = minimum joint displacement from current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DH-to-Physical mapping: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phi_1 = theta_1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phi_2 = theta_2 + pi/2 - beta  (beta=8.13 deg)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phi_3 = theta_3 + 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Quintic Spline Trajectory: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s(tau) = 10*tau^3 - 15*tau^4 + 6*tau^5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velocity at start and end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acceleration at start and end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Jerk-continuous across segment boundaries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Improvement over cubic: eliminates audible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servo jerk on QArm geared drivetrain</a:t>
            </a:r>
          </a:p>
        </p:txBody>
      </p:sp>
      <p:pic>
        <p:nvPicPr>
          <p:cNvPr id="15" name="Picture 14" descr="trajector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5669280" cy="17373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246888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State Sequence: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INIT              Initialize driver + camera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GO_HOME           Move to safe home position [0.45, 0, 0.49]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SCAN              Capture D415 frame from survey1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SELECT_FRUIT      Choose next target from detections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APPROACH          Move above fruit at SAFE_Z = 0.20m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DESCEND           Lower to pick height (per-fruit depth)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CLOSE_GRIPPER     Ramp close + readback settle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ASCEND_PICK       Lift to SAFE_Z with fruit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MOVE_TO_BASKET    Navigate to category basket XYZ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DESCEND_PLACE     Lower into basket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OPEN_GRIPPER      Release fruit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ASCEND_PLACE      Lift clear, loop or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3308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onsolas"/>
              </a:defRPr>
            </a:pPr>
            <a:r>
              <a:t>Parameter        Strawberry   Banana   Tomato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34840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4439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Pick depth (m)   0.018        0.020    0.020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90872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000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X bias (cm)      -3.0         --       --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946904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9560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Pick offset (m)  0.025        0.020    0.020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202936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Grip close       0.90         0.90     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532120"/>
            <a:ext cx="5669280" cy="8229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577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Gripper Ramp + Readback: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Command grip_close -&gt; wait settle -&gt; read actual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Jaw adapts to fruit size (stalls at thickness)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Confirms grasp before ascending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Human Interface: GUI + Voice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Tkinter Remote Control | Vosk Wake-Word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5/8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Tkinter GUI — Remote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GUI Layout: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800" b="0">
                <a:solidFill>
                  <a:srgbClr val="0096D6"/>
                </a:solidFill>
                <a:latin typeface="Consolas"/>
              </a:defRPr>
            </a:pPr>
            <a:r>
              <a:t>+------------------+-------------------------+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Live D415 feed   | EMERGENCY STOP    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(640 x 360)      | Manual Teleop (XYZ +/-)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+ detection     | Basket: B / T / S 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overlay       | Gripper: open / close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              | Mode: Manual | Auto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              | Status: ...              |</a:t>
            </a:r>
          </a:p>
          <a:p>
            <a:pPr algn="l">
              <a:defRPr sz="800" b="0">
                <a:solidFill>
                  <a:srgbClr val="0096D6"/>
                </a:solidFill>
                <a:latin typeface="Consolas"/>
              </a:defRPr>
            </a:pPr>
            <a:r>
              <a:t>+------------------+-------------------------+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Live camera feed updates during picks (not frozen)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E-STOP halts arm + logs EE pose (not just a flag)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Concurrent-read safe (D415 driver not thread-safe)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Detection overlay: coloured boxes per fruit type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Auto batch: press 'all' to sort every fruit</a:t>
            </a:r>
          </a:p>
        </p:txBody>
      </p:sp>
      <p:pic>
        <p:nvPicPr>
          <p:cNvPr id="15" name="Picture 14" descr="1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212080"/>
            <a:ext cx="5669280" cy="1143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Voice Control — Vosk Wake-Word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182880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Wake-Word Protocol: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Hear "robot" -&gt; enter awaiting phase (2s timer)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Within 2s: hear valid command -&gt; dispatch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Timeout or noise -&gt; return to idle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"stop" always dispatched (no wake needed)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Example: 'robot, pick strawberry'</a:t>
            </a:r>
          </a:p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Example: 'stop' (immediate halt)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66928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Architecture: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Vosk + PyAudio — fully offline (no cloud)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Small English model (vosk-model-small-en-us-0.15)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Threaded: VoiceController daemon + callback dispatch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Graceful degradation: GUI works without mic/model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Sample rate: 16 kHz, chunk: 4000 frames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4632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8646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alibri"/>
              </a:defRPr>
            </a:pPr>
            <a:r>
              <a:t>Grammar Words (Vosk restricted vocabulary):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166360"/>
            <a:ext cx="566928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184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robot | strawberry | banana | tomato | all | stop | home | refresh | survey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760720"/>
            <a:ext cx="5669280" cy="64008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806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Theory Link: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FSM pattern: same design as pick-place controller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Real-time audio processing at 16kHz (signal 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Experimental 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Calibration | Detection | Pick &amp; Place |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6/8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Calibration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RMS: ~36 mm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Session-cal refresh: &lt;30 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solvePnP extrinsics verified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survey1 pose repeatable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Settle tolerance: 0.04 rad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Downstream residual gate: 10mm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Fruit Detection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 fruit types classified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+ shape pipeline (no ML)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Depth projection to base frame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Calyx-based strawberry ID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Hue-wrap handles red fruits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Area/circularity gates per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Pick &amp; Place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 fruits -&gt; 3 baskets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Autonomous full-cycle demo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depth tuning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Gripper readback confirms grasp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IK fallback for edge poses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Quintic smooth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91840"/>
            <a:ext cx="1170432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101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Suite: 60/60 passing across 6 suites + voice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657600"/>
            <a:ext cx="11704320" cy="1463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test_integration         — end-to-end FSM mock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test_fruit_detector      — HSV + shape pipeline unit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test_calibrate_chessboard — solvePnP + homography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test_pick_single         — single-fruit pick cycle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test_survey_capture      — camera capture + settle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test_picker_viewer       — UI event loop + live feed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test_voice_control       — parser + dispatch integration</a:t>
            </a:r>
          </a:p>
        </p:txBody>
      </p:sp>
      <p:pic>
        <p:nvPicPr>
          <p:cNvPr id="19" name="Picture 18" descr="joint_angle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257800"/>
            <a:ext cx="3840480" cy="1097280"/>
          </a:xfrm>
          <a:prstGeom prst="rect">
            <a:avLst/>
          </a:prstGeom>
        </p:spPr>
      </p:pic>
      <p:pic>
        <p:nvPicPr>
          <p:cNvPr id="20" name="Picture 19" descr="gripper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257800"/>
            <a:ext cx="3840480" cy="1097280"/>
          </a:xfrm>
          <a:prstGeom prst="rect">
            <a:avLst/>
          </a:prstGeom>
        </p:spPr>
      </p:pic>
      <p:pic>
        <p:nvPicPr>
          <p:cNvPr id="21" name="Picture 20" descr="top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257800"/>
            <a:ext cx="38404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Challenges, Solutions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Problems Encountered | How We Solved Them | Feedback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7/8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Calibration drifts when QArm base is bumped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Session-cal system: quick re-cal in &lt;30s with chessboard residual gates (3mm warn, 10mm error)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500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Strawberry grip too loose at 0.72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Reverted to 0.90 + gripper ramp+readback adapts jaw to fruit size (stalls at thickness)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272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Tomato detection false negatives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Fixed cam_extrinsics_survey1 passthrough bug + HSV hue-wrap for red range (0-10, 170-180)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Concurrent D415 reads crash driver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Camera reader auto-pauses during capture_fruits(); Quanser Video3D is not thread-safe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6344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Settle tolerance too tight (0.015 rad)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Relaxed to 0.04 rad; downstream chessboard residual (10mm) is the real mm-level 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0679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Strawberry centroid off-centre (calyx)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Widest inscribed disk centroid + calyx direction vector biases pick toward fat body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Improvements from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669280" cy="3657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From A1/A2 Feedback: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Quantitative analysis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Added RMS residuals, settling times, success rates — not just qualitative descriptions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Quintic replaces cubic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Zero acceleration at boundaries eliminates servo jerk; smoother, quieter motion on geared drivetrain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E-STOP with actual arm halt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E-STOP now freezes joints + logs EE pose, not just setting a flag the FSM checks later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Voice control added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Hands-free operation via Vosk wake-word; accessibility + safety (eyes on arm, not keyboard)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60+ automated regression tests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6 test suites + voice tests; prevents regressions across 178 commits of iterative tuning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Live camera feed during picks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D415 frame updates in real-time during pick motion; operator sees what the arm sees, not a stale snapshot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349240"/>
            <a:ext cx="5669280" cy="10058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Development Stats: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178 commits across 7 branches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60+ automated tests (all passing)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~20 Python modules (driver, vision, control, UI)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Full CI: preflight -&gt; calibrate -&gt; sort -&gt;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Summary | Theory-Practice Bridge |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8/8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3657600" cy="32918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Achievements: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Complete autonomous fruit sorting system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 fruits (3 types) sorted into 3 baskets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0096D6"/>
                </a:solidFill>
                <a:latin typeface="Calibri"/>
              </a:defRPr>
            </a:pPr>
            <a:r>
              <a:t>Two operational modes: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Fully autonomous (vision loop)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Remote GUI with live feed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Voice control for hands-free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operation and accessibility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Theory-practice bridge: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IK, trajectory gen, visual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servoing, FSM — all applied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from lecture to real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97280"/>
            <a:ext cx="45720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155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Theory-Practice Bridge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554480"/>
            <a:ext cx="45720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572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  <a:latin typeface="Consolas"/>
              </a:defRPr>
            </a:pPr>
            <a:r>
              <a:t>Concept            Our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20240"/>
            <a:ext cx="457200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93852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Inverse Kinematics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4-solution analytic solver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Spong &amp; Vidyasagar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697480"/>
            <a:ext cx="4572000" cy="731520"/>
          </a:xfrm>
          <a:prstGeom prst="rect">
            <a:avLst/>
          </a:prstGeom>
          <a:solidFill>
            <a:srgbClr val="28284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71576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Trajectory Gen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Quintic splines (zero jerk)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Craig Ch.7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474720"/>
            <a:ext cx="457200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49300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Visual Servoing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D415 solvePnP + homography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Corke: eye-in-hand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251960"/>
            <a:ext cx="4572000" cy="731520"/>
          </a:xfrm>
          <a:prstGeom prst="rect">
            <a:avLst/>
          </a:prstGeom>
          <a:solidFill>
            <a:srgbClr val="28284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27024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State Machines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FSM / Stateflow theory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097280"/>
            <a:ext cx="30175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15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554480"/>
            <a:ext cx="3017520" cy="32918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6002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Recommendations: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Full Parallax Projection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Eliminate pose-dependent calibration limitation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ML-Based Detection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Replace hand-tuned HSV with trained classifier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Soft Gripper Design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Custom compliant fingers for delicate fruits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Multi-Arm Coordination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Parallel sorting for higher throughput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Velocity-Limited Profiles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Trapezoidal trajectories with actuator limits</a:t>
            </a:r>
          </a:p>
        </p:txBody>
      </p:sp>
      <p:pic>
        <p:nvPicPr>
          <p:cNvPr id="29" name="Picture 28" descr="ee_posi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0"/>
            <a:ext cx="1161288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